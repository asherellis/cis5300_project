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9" r:id="rId4"/>
    <p:sldId id="260" r:id="rId5"/>
    <p:sldId id="261" r:id="rId6"/>
    <p:sldId id="280" r:id="rId7"/>
    <p:sldId id="281" r:id="rId8"/>
    <p:sldId id="282" r:id="rId9"/>
    <p:sldId id="265" r:id="rId10"/>
    <p:sldId id="283" r:id="rId11"/>
    <p:sldId id="267" r:id="rId12"/>
    <p:sldId id="284" r:id="rId13"/>
    <p:sldId id="269" r:id="rId14"/>
    <p:sldId id="270" r:id="rId15"/>
    <p:sldId id="271" r:id="rId16"/>
    <p:sldId id="273" r:id="rId17"/>
    <p:sldId id="275" r:id="rId18"/>
    <p:sldId id="277" r:id="rId19"/>
    <p:sldId id="27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618"/>
    <p:restoredTop sz="76818"/>
  </p:normalViewPr>
  <p:slideViewPr>
    <p:cSldViewPr snapToGrid="0" snapToObjects="1">
      <p:cViewPr varScale="1">
        <p:scale>
          <a:sx n="21" d="100"/>
          <a:sy n="21" d="100"/>
        </p:scale>
        <p:origin x="176" y="15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1268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lang="en-US" sz="2400" dirty="0"/>
              <a:t>Given a question and a document corpus, build a system that:</a:t>
            </a:r>
          </a:p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lang="en-US" sz="2400" dirty="0"/>
              <a:t>1. Retrieves the correct source document corpus</a:t>
            </a:r>
          </a:p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lang="en-US" sz="2400" dirty="0"/>
              <a:t>2. Generates a 2-4 sentence answer grounded in that document</a:t>
            </a:r>
          </a:p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lang="en-US" sz="2400" dirty="0"/>
              <a:t>3. Cites the specific sentences that support the answer</a:t>
            </a:r>
          </a:p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lang="en-US" sz="2400" dirty="0"/>
              <a:t>4. Refuses when evidence is insufficient or contradictory</a:t>
            </a:r>
          </a:p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endParaRPr lang="en-US" sz="2400" dirty="0"/>
          </a:p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lang="en-US" sz="2400" dirty="0"/>
              <a:t>Here’s an example of what it should look like – this was actually taken from our final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8AB55-641E-116C-53D6-9ECD913F9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C428A2-BC4A-DEC6-02EB-222DC5D6EC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412DC9-E614-0A10-E94E-D8262D4A6D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1F4C1-7734-9A5A-CC2E-2B57F56534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012347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803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74922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A Grounded Q&amp;A Assistant</a:t>
            </a:r>
            <a:br>
              <a:rPr dirty="0"/>
            </a:br>
            <a:r>
              <a:rPr dirty="0"/>
              <a:t>for Intelligence Analysts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63002" y="3505602"/>
            <a:ext cx="6265690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rPr dirty="0"/>
              <a:t>CIS 5300 Final Project</a:t>
            </a:r>
            <a:br>
              <a:rPr dirty="0"/>
            </a:br>
            <a:br>
              <a:rPr dirty="0"/>
            </a:br>
            <a:r>
              <a:rPr dirty="0"/>
              <a:t>Vincent Lin, Risha Kumar, Chih Yu Tsai, Asher Ellis</a:t>
            </a:r>
            <a:br>
              <a:rPr dirty="0"/>
            </a:br>
            <a:r>
              <a:rPr dirty="0"/>
              <a:t>December </a:t>
            </a:r>
            <a:r>
              <a:rPr lang="en-US" dirty="0"/>
              <a:t>18, </a:t>
            </a:r>
            <a:r>
              <a:rPr dirty="0"/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dirty="0"/>
              <a:t>Intelligence analysts must sift through </a:t>
            </a:r>
            <a:r>
              <a:rPr lang="en-US" dirty="0"/>
              <a:t>many </a:t>
            </a:r>
            <a:r>
              <a:rPr dirty="0"/>
              <a:t>documents </a:t>
            </a:r>
            <a:r>
              <a:rPr lang="en-US" dirty="0"/>
              <a:t>to find information</a:t>
            </a:r>
            <a:endParaRPr dirty="0"/>
          </a:p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lang="en-US" dirty="0"/>
              <a:t>Today’s</a:t>
            </a:r>
            <a:r>
              <a:rPr dirty="0"/>
              <a:t> </a:t>
            </a:r>
            <a:r>
              <a:rPr lang="en-US" dirty="0"/>
              <a:t>options</a:t>
            </a:r>
            <a:r>
              <a:rPr dirty="0"/>
              <a:t>:</a:t>
            </a:r>
            <a:endParaRPr lang="en-US" dirty="0"/>
          </a:p>
          <a:p>
            <a:pPr lvl="1">
              <a:spcBef>
                <a:spcPts val="600"/>
              </a:spcBef>
              <a:defRPr sz="1800">
                <a:solidFill>
                  <a:srgbClr val="505050"/>
                </a:solidFill>
              </a:defRPr>
            </a:pPr>
            <a:r>
              <a:rPr lang="en-US" dirty="0"/>
              <a:t>Manual reading: Accurate but slow, tedious</a:t>
            </a:r>
          </a:p>
          <a:p>
            <a:pPr lvl="1">
              <a:spcBef>
                <a:spcPts val="600"/>
              </a:spcBef>
              <a:defRPr sz="1800">
                <a:solidFill>
                  <a:srgbClr val="505050"/>
                </a:solidFill>
              </a:defRPr>
            </a:pPr>
            <a:r>
              <a:rPr lang="en-US" dirty="0"/>
              <a:t>LLM summaries: Fast but may hallucinate</a:t>
            </a:r>
            <a:endParaRPr dirty="0"/>
          </a:p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dirty="0"/>
              <a:t>What's missing: Fast, trustworthy answers with clear provenance</a:t>
            </a:r>
            <a:endParaRPr lang="en-US" dirty="0"/>
          </a:p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endParaRPr lang="en-US" dirty="0"/>
          </a:p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dirty="0"/>
              <a:t>Goal: Build system that retrieves docs, generates answers, cites sources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F5E4E-31C5-AB60-1DFA-F1F9F8C16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CA14C2-2E68-40F8-0A8C-7794D973177F}"/>
              </a:ext>
            </a:extLst>
          </p:cNvPr>
          <p:cNvSpPr txBox="1"/>
          <p:nvPr/>
        </p:nvSpPr>
        <p:spPr>
          <a:xfrm>
            <a:off x="457200" y="274320"/>
            <a:ext cx="235352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lang="en-US" dirty="0"/>
              <a:t>Sample Q&amp;A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9BCBA9-B1BA-84C6-424C-8B038A126849}"/>
              </a:ext>
            </a:extLst>
          </p:cNvPr>
          <p:cNvSpPr txBox="1"/>
          <p:nvPr/>
        </p:nvSpPr>
        <p:spPr>
          <a:xfrm>
            <a:off x="2807379" y="6126480"/>
            <a:ext cx="657699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46464"/>
                </a:solidFill>
              </a:defRPr>
            </a:pPr>
            <a:r>
              <a:rPr lang="en-US" dirty="0"/>
              <a:t>Successful example: correct document retrieved, accurate answer, correct sentence cited</a:t>
            </a:r>
            <a:endParaRPr dirty="0"/>
          </a:p>
        </p:txBody>
      </p:sp>
      <p:pic>
        <p:nvPicPr>
          <p:cNvPr id="11" name="Picture 10" descr="A screenshot of a survey&#10;&#10;AI-generated content may be incorrect.">
            <a:extLst>
              <a:ext uri="{FF2B5EF4-FFF2-40B4-BE49-F238E27FC236}">
                <a16:creationId xmlns:a16="http://schemas.microsoft.com/office/drawing/2014/main" id="{2BE9C5A8-FFBB-B13A-78D1-CD6FD9BE6A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016" b="30065"/>
          <a:stretch>
            <a:fillRect/>
          </a:stretch>
        </p:blipFill>
        <p:spPr>
          <a:xfrm>
            <a:off x="2201132" y="1560732"/>
            <a:ext cx="7789735" cy="2319883"/>
          </a:xfrm>
          <a:prstGeom prst="rect">
            <a:avLst/>
          </a:prstGeom>
        </p:spPr>
      </p:pic>
      <p:pic>
        <p:nvPicPr>
          <p:cNvPr id="12" name="Picture 11" descr="A screenshot of a survey&#10;&#10;AI-generated content may be incorrect.">
            <a:extLst>
              <a:ext uri="{FF2B5EF4-FFF2-40B4-BE49-F238E27FC236}">
                <a16:creationId xmlns:a16="http://schemas.microsoft.com/office/drawing/2014/main" id="{D5AF6750-7AE5-A6B7-0E3A-827FB014CC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17" b="78057"/>
          <a:stretch>
            <a:fillRect/>
          </a:stretch>
        </p:blipFill>
        <p:spPr>
          <a:xfrm>
            <a:off x="2201127" y="3789949"/>
            <a:ext cx="7789740" cy="591860"/>
          </a:xfrm>
          <a:prstGeom prst="rect">
            <a:avLst/>
          </a:prstGeom>
        </p:spPr>
      </p:pic>
      <p:pic>
        <p:nvPicPr>
          <p:cNvPr id="13" name="Picture 12" descr="A screenshot of a survey&#10;&#10;AI-generated content may be incorrect.">
            <a:extLst>
              <a:ext uri="{FF2B5EF4-FFF2-40B4-BE49-F238E27FC236}">
                <a16:creationId xmlns:a16="http://schemas.microsoft.com/office/drawing/2014/main" id="{07D249D0-D4D0-5F99-1A3B-71432C6F8B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551" b="5249"/>
          <a:stretch>
            <a:fillRect/>
          </a:stretch>
        </p:blipFill>
        <p:spPr>
          <a:xfrm>
            <a:off x="2201126" y="4381809"/>
            <a:ext cx="7789741" cy="126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328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85105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rPr dirty="0"/>
              <a:t>Document Corpus (787 docs)</a:t>
            </a:r>
            <a:endParaRPr lang="en-US" dirty="0"/>
          </a:p>
          <a:p>
            <a:pPr>
              <a:defRPr sz="2400" b="1">
                <a:solidFill>
                  <a:srgbClr val="0070C0"/>
                </a:solidFill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rPr dirty="0"/>
              <a:t>QA Dataset (30 questions)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30352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dirty="0"/>
              <a:t>24 train / 3 dev / 3 test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dirty="0"/>
              <a:t>Each entry includes: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sz="1600" dirty="0"/>
              <a:t>  </a:t>
            </a:r>
            <a:r>
              <a:rPr sz="1600" dirty="0">
                <a:solidFill>
                  <a:srgbClr val="505050"/>
                </a:solidFill>
              </a:rPr>
              <a:t>- Question text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sz="1600" dirty="0">
                <a:solidFill>
                  <a:srgbClr val="505050"/>
                </a:solidFill>
              </a:rPr>
              <a:t>  - Gold answer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sz="1600" dirty="0">
                <a:solidFill>
                  <a:srgbClr val="505050"/>
                </a:solidFill>
              </a:rPr>
              <a:t>  - Source document ID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sz="1600" dirty="0">
                <a:solidFill>
                  <a:srgbClr val="505050"/>
                </a:solidFill>
              </a:rPr>
              <a:t>  - Evidence sentence IDs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dirty="0"/>
              <a:t>Edge cases: unanswerable questions, numeric precision queries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1A38E7-5A3C-A66A-8C36-7A05F9C0A645}"/>
              </a:ext>
            </a:extLst>
          </p:cNvPr>
          <p:cNvSpPr txBox="1"/>
          <p:nvPr/>
        </p:nvSpPr>
        <p:spPr>
          <a:xfrm>
            <a:off x="45720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dirty="0"/>
              <a:t>CNN/</a:t>
            </a:r>
            <a:r>
              <a:rPr dirty="0" err="1"/>
              <a:t>DailyMail</a:t>
            </a:r>
            <a:r>
              <a:rPr dirty="0"/>
              <a:t> articles (300)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dirty="0"/>
              <a:t>Russia-Ukraine conflict reporting (217)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dirty="0"/>
              <a:t>CIA World Factbook entries (257)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dirty="0"/>
              <a:t>Documents stored with sentence boundaries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dirty="0"/>
              <a:t>Sentence IDs: S1, S2, S3...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Retrieval &amp; Citation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dirty="0"/>
              <a:t>Recall@1: Correct doc ranked first?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dirty="0"/>
              <a:t>Recall@5: Correct doc in top 5?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dirty="0"/>
              <a:t>Citation Precision: Fraction of cited sentences that are correct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dirty="0"/>
              <a:t>Citation Recall: Fraction of gold sentences that were cited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dirty="0"/>
              <a:t>Citation F1: Harmonic mean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EE0C35-AC8E-D081-8212-AC74B370EF20}"/>
              </a:ext>
            </a:extLst>
          </p:cNvPr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rPr dirty="0"/>
              <a:t>Answer Quality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757822-7D0E-4C42-B142-74A19E9137E3}"/>
              </a:ext>
            </a:extLst>
          </p:cNvPr>
          <p:cNvSpPr txBox="1"/>
          <p:nvPr/>
        </p:nvSpPr>
        <p:spPr>
          <a:xfrm>
            <a:off x="6217920" y="1737360"/>
            <a:ext cx="5303520" cy="2441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dirty="0"/>
              <a:t>LLM-as-Judge: Llama 3.1 8B scores answers 1-5 using rubric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dirty="0"/>
              <a:t>Evidence Score: Word overlap between gold and predicted citations</a:t>
            </a:r>
            <a:r>
              <a:rPr lang="en-US" dirty="0"/>
              <a:t> (less strict then SID matching)</a:t>
            </a:r>
            <a:endParaRPr dirty="0"/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dirty="0"/>
              <a:t>Combined Score: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dirty="0"/>
              <a:t>  0.5 × (Answer/5) + 0.5 × Evidence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dirty="0"/>
              <a:t>Rewards both answer quality and proper grounding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Simple Baseline: BM25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dirty="0"/>
              <a:t>Classic lexical retrieval using term frequency and document length</a:t>
            </a:r>
          </a:p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dirty="0"/>
              <a:t>Implementation:</a:t>
            </a:r>
          </a:p>
          <a:p>
            <a:pPr lvl="1">
              <a:spcBef>
                <a:spcPts val="600"/>
              </a:spcBef>
              <a:defRPr sz="1800">
                <a:solidFill>
                  <a:srgbClr val="505050"/>
                </a:solidFill>
              </a:defRPr>
            </a:pPr>
            <a:r>
              <a:rPr dirty="0"/>
              <a:t>Tokenization: NLTK </a:t>
            </a:r>
            <a:r>
              <a:rPr dirty="0" err="1"/>
              <a:t>word</a:t>
            </a:r>
            <a:r>
              <a:rPr lang="en-US" dirty="0" err="1"/>
              <a:t>_</a:t>
            </a:r>
            <a:r>
              <a:rPr dirty="0" err="1"/>
              <a:t>tokenize</a:t>
            </a:r>
            <a:r>
              <a:rPr dirty="0"/>
              <a:t> + lowercase</a:t>
            </a:r>
          </a:p>
          <a:p>
            <a:pPr lvl="1">
              <a:spcBef>
                <a:spcPts val="600"/>
              </a:spcBef>
              <a:defRPr sz="1800">
                <a:solidFill>
                  <a:srgbClr val="505050"/>
                </a:solidFill>
              </a:defRPr>
            </a:pPr>
            <a:r>
              <a:rPr dirty="0"/>
              <a:t>Ranking: BM25Okapi scores all 787 documents</a:t>
            </a:r>
          </a:p>
          <a:p>
            <a:pPr lvl="1">
              <a:spcBef>
                <a:spcPts val="600"/>
              </a:spcBef>
              <a:defRPr sz="1800">
                <a:solidFill>
                  <a:srgbClr val="505050"/>
                </a:solidFill>
              </a:defRPr>
            </a:pPr>
            <a:r>
              <a:rPr dirty="0"/>
              <a:t>Retrieve top-5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624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rPr dirty="0"/>
              <a:t>Results: Recall@1 = 54.2%, Recall@5 = 62.5%, Citation F1 = 0.241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D49CA-B843-947A-6411-4C10D17EF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A7FF5F-4EAA-9BA8-667D-213BFEE10717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0287AF-777E-EA60-C3B5-DAD8CAF88175}"/>
              </a:ext>
            </a:extLst>
          </p:cNvPr>
          <p:cNvSpPr txBox="1"/>
          <p:nvPr/>
        </p:nvSpPr>
        <p:spPr>
          <a:xfrm>
            <a:off x="457200" y="274320"/>
            <a:ext cx="465044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n-US" dirty="0"/>
              <a:t>Strong</a:t>
            </a:r>
            <a:r>
              <a:rPr dirty="0"/>
              <a:t> Baseline: </a:t>
            </a:r>
            <a:r>
              <a:rPr lang="en-US" dirty="0"/>
              <a:t>LLM-Only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89526-291F-BEDD-E54E-C80966735D29}"/>
              </a:ext>
            </a:extLst>
          </p:cNvPr>
          <p:cNvSpPr txBox="1"/>
          <p:nvPr/>
        </p:nvSpPr>
        <p:spPr>
          <a:xfrm>
            <a:off x="457200" y="1371600"/>
            <a:ext cx="1127729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lang="en-US" dirty="0"/>
              <a:t>Direct LLM generation without document retrieval</a:t>
            </a:r>
          </a:p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lang="en-US" dirty="0"/>
              <a:t>Implementation:</a:t>
            </a:r>
          </a:p>
          <a:p>
            <a:pPr lvl="1">
              <a:spcBef>
                <a:spcPts val="600"/>
              </a:spcBef>
              <a:defRPr sz="1800">
                <a:solidFill>
                  <a:srgbClr val="505050"/>
                </a:solidFill>
              </a:defRPr>
            </a:pPr>
            <a:r>
              <a:rPr lang="en-US" dirty="0"/>
              <a:t>Model: Llama 3.1 8B via </a:t>
            </a:r>
            <a:r>
              <a:rPr lang="en-US" dirty="0" err="1"/>
              <a:t>Groq</a:t>
            </a:r>
            <a:r>
              <a:rPr lang="en-US" dirty="0"/>
              <a:t> API</a:t>
            </a:r>
          </a:p>
          <a:p>
            <a:pPr lvl="1">
              <a:spcBef>
                <a:spcPts val="600"/>
              </a:spcBef>
              <a:defRPr sz="1800">
                <a:solidFill>
                  <a:srgbClr val="505050"/>
                </a:solidFill>
              </a:defRPr>
            </a:pPr>
            <a:r>
              <a:rPr lang="en-US" dirty="0"/>
              <a:t>No retrieval, no document access, no citations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3487F1-1F9A-8FC5-501B-6140894D850D}"/>
              </a:ext>
            </a:extLst>
          </p:cNvPr>
          <p:cNvSpPr txBox="1"/>
          <p:nvPr/>
        </p:nvSpPr>
        <p:spPr>
          <a:xfrm>
            <a:off x="457200" y="3655130"/>
            <a:ext cx="697049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rPr lang="en-US" dirty="0"/>
              <a:t>Results: Answer Score = 2.58/5, Combined = 0.30 (no evidence!)</a:t>
            </a:r>
          </a:p>
        </p:txBody>
      </p:sp>
    </p:spTree>
    <p:extLst>
      <p:ext uri="{BB962C8B-B14F-4D97-AF65-F5344CB8AC3E}">
        <p14:creationId xmlns:p14="http://schemas.microsoft.com/office/powerpoint/2010/main" val="1282188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Extension 1: Retrieval-Augmented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dirty="0"/>
              <a:t>Combine BM25 retrieval with LLM generation</a:t>
            </a:r>
          </a:p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dirty="0"/>
              <a:t>Pipeline:</a:t>
            </a:r>
          </a:p>
          <a:p>
            <a:pPr lvl="1">
              <a:spcBef>
                <a:spcPts val="600"/>
              </a:spcBef>
              <a:defRPr sz="1800">
                <a:solidFill>
                  <a:srgbClr val="505050"/>
                </a:solidFill>
              </a:defRPr>
            </a:pPr>
            <a:r>
              <a:rPr dirty="0"/>
              <a:t>BM25 retrieves top-5 documents</a:t>
            </a:r>
          </a:p>
          <a:p>
            <a:pPr lvl="1">
              <a:spcBef>
                <a:spcPts val="600"/>
              </a:spcBef>
              <a:defRPr sz="1800">
                <a:solidFill>
                  <a:srgbClr val="505050"/>
                </a:solidFill>
              </a:defRPr>
            </a:pPr>
            <a:r>
              <a:rPr dirty="0"/>
              <a:t>Pass top document to LLM as context</a:t>
            </a:r>
          </a:p>
          <a:p>
            <a:pPr lvl="1">
              <a:spcBef>
                <a:spcPts val="600"/>
              </a:spcBef>
              <a:defRPr sz="1800">
                <a:solidFill>
                  <a:srgbClr val="505050"/>
                </a:solidFill>
              </a:defRPr>
            </a:pPr>
            <a:r>
              <a:rPr dirty="0"/>
              <a:t>LLM generates 2-4 sentence answer</a:t>
            </a:r>
          </a:p>
          <a:p>
            <a:pPr lvl="1">
              <a:spcBef>
                <a:spcPts val="600"/>
              </a:spcBef>
              <a:defRPr sz="1800">
                <a:solidFill>
                  <a:srgbClr val="505050"/>
                </a:solidFill>
              </a:defRPr>
            </a:pPr>
            <a:r>
              <a:rPr dirty="0"/>
              <a:t>Word-overlap extracts top-3 evidence sentences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rPr dirty="0"/>
              <a:t>Results: Answer improves 2.58 → 3.12 (+21%), Combined 0.30 → 0.48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Extension 2: Cross-Encoder Reranking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dirty="0"/>
              <a:t>Problem: BM25 misses semantically similar conten</a:t>
            </a:r>
            <a:r>
              <a:rPr lang="en-US" dirty="0"/>
              <a:t>t</a:t>
            </a:r>
          </a:p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lang="en-US" dirty="0"/>
              <a:t>Solution: Reranking with cross-encoder</a:t>
            </a:r>
          </a:p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dirty="0"/>
              <a:t>Implementation:</a:t>
            </a:r>
          </a:p>
          <a:p>
            <a:pPr lvl="1">
              <a:spcBef>
                <a:spcPts val="600"/>
              </a:spcBef>
              <a:defRPr sz="1800">
                <a:solidFill>
                  <a:srgbClr val="505050"/>
                </a:solidFill>
              </a:defRPr>
            </a:pPr>
            <a:r>
              <a:rPr dirty="0"/>
              <a:t>BM25 retrieves top-30 candidates (expanded from top-5)</a:t>
            </a:r>
          </a:p>
          <a:p>
            <a:pPr lvl="1">
              <a:spcBef>
                <a:spcPts val="600"/>
              </a:spcBef>
              <a:defRPr sz="1800">
                <a:solidFill>
                  <a:srgbClr val="505050"/>
                </a:solidFill>
              </a:defRPr>
            </a:pPr>
            <a:r>
              <a:rPr dirty="0"/>
              <a:t>Cross-encoder (ms-marco-MiniLM-L-6-v2) scores each pair</a:t>
            </a:r>
          </a:p>
          <a:p>
            <a:pPr lvl="1">
              <a:spcBef>
                <a:spcPts val="600"/>
              </a:spcBef>
              <a:defRPr sz="1800">
                <a:solidFill>
                  <a:srgbClr val="505050"/>
                </a:solidFill>
              </a:defRPr>
            </a:pPr>
            <a:r>
              <a:rPr dirty="0"/>
              <a:t>Re-sort by scores, select top-5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t>Results: Recall@1 jumps 54% → 79% (+46%), 6 more correct docs at rank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Extension 3: LLM-Based Citation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dirty="0"/>
              <a:t>Problem: Word-overlap misses semantic</a:t>
            </a:r>
            <a:r>
              <a:rPr lang="en-US" dirty="0"/>
              <a:t>ally similar</a:t>
            </a:r>
            <a:r>
              <a:rPr dirty="0"/>
              <a:t> matches</a:t>
            </a:r>
          </a:p>
          <a:p>
            <a:pPr lvl="1">
              <a:spcBef>
                <a:spcPts val="600"/>
              </a:spcBef>
              <a:defRPr sz="1800">
                <a:solidFill>
                  <a:srgbClr val="505050"/>
                </a:solidFill>
              </a:defRPr>
            </a:pPr>
            <a:r>
              <a:rPr dirty="0"/>
              <a:t>E.g., "casualties" in question vs "killed" in document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6311856" cy="20621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dirty="0"/>
              <a:t>Solution: LLM identifies supporting sentences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dirty="0"/>
              <a:t>    • Prompt LLM with question, answer, and numbered sentences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dirty="0"/>
              <a:t>    • LLM returns sentence IDs that support the answer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dirty="0"/>
              <a:t>    • Semantic matching instead of lexical matching</a:t>
            </a:r>
          </a:p>
          <a:p>
            <a:pPr>
              <a:defRPr sz="1200"/>
            </a:pPr>
            <a:endParaRPr dirty="0"/>
          </a:p>
          <a:p>
            <a:pPr>
              <a:defRPr sz="2000" b="1">
                <a:solidFill>
                  <a:srgbClr val="0070C0"/>
                </a:solidFill>
              </a:defRPr>
            </a:pPr>
            <a:endParaRPr lang="en-US" dirty="0"/>
          </a:p>
          <a:p>
            <a:pPr>
              <a:defRPr sz="2000" b="1">
                <a:solidFill>
                  <a:srgbClr val="0070C0"/>
                </a:solidFill>
              </a:defRPr>
            </a:pPr>
            <a:r>
              <a:rPr dirty="0"/>
              <a:t>Results: Citation F1 </a:t>
            </a:r>
            <a:r>
              <a:rPr lang="en-US" dirty="0"/>
              <a:t>jumps </a:t>
            </a:r>
            <a:r>
              <a:rPr dirty="0"/>
              <a:t>0.29 → 0.58 (+98%)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Extension 4: Hybrid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dirty="0"/>
              <a:t>Combine lexical and semantic signals</a:t>
            </a:r>
            <a:endParaRPr lang="en-US" dirty="0"/>
          </a:p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505050"/>
                </a:solidFill>
              </a:rPr>
              <a:t>BM25 scores (lexical matching) + dense embeddings (all-MiniLM-L6-v2) for semantic similarity</a:t>
            </a:r>
          </a:p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505050"/>
                </a:solidFill>
              </a:rPr>
              <a:t>Combined score: </a:t>
            </a:r>
            <a:r>
              <a:rPr lang="el-GR" dirty="0">
                <a:solidFill>
                  <a:srgbClr val="505050"/>
                </a:solidFill>
              </a:rPr>
              <a:t>α × </a:t>
            </a:r>
            <a:r>
              <a:rPr lang="en-US" dirty="0">
                <a:solidFill>
                  <a:srgbClr val="505050"/>
                </a:solidFill>
              </a:rPr>
              <a:t>BM25 + (1-</a:t>
            </a:r>
            <a:r>
              <a:rPr lang="el-GR" dirty="0">
                <a:solidFill>
                  <a:srgbClr val="505050"/>
                </a:solidFill>
              </a:rPr>
              <a:t>α) × </a:t>
            </a:r>
            <a:r>
              <a:rPr lang="en-US" dirty="0">
                <a:solidFill>
                  <a:srgbClr val="505050"/>
                </a:solidFill>
              </a:rPr>
              <a:t>Semantic, with </a:t>
            </a:r>
            <a:r>
              <a:rPr lang="el-GR" dirty="0">
                <a:solidFill>
                  <a:srgbClr val="505050"/>
                </a:solidFill>
              </a:rPr>
              <a:t>α = 0.5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9AF244-A329-5E9F-D7FA-56849CBDAC13}"/>
              </a:ext>
            </a:extLst>
          </p:cNvPr>
          <p:cNvSpPr txBox="1"/>
          <p:nvPr/>
        </p:nvSpPr>
        <p:spPr>
          <a:xfrm>
            <a:off x="457200" y="3363966"/>
            <a:ext cx="710842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rPr lang="en-US" dirty="0"/>
              <a:t>Results: Recall@1 hits 83.3%, Recall@5 hits 95.8% (best retrieval)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Extension 5: Document Chunking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dirty="0"/>
              <a:t>Problem: Long documents dilute relevant content</a:t>
            </a:r>
          </a:p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dirty="0"/>
              <a:t>Solution: Break documents into overlapping chunks</a:t>
            </a:r>
          </a:p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dirty="0"/>
              <a:t>Implementation:</a:t>
            </a:r>
          </a:p>
          <a:p>
            <a:pPr lvl="1">
              <a:spcBef>
                <a:spcPts val="600"/>
              </a:spcBef>
              <a:defRPr sz="1800">
                <a:solidFill>
                  <a:srgbClr val="505050"/>
                </a:solidFill>
              </a:defRPr>
            </a:pPr>
            <a:r>
              <a:rPr dirty="0"/>
              <a:t>8-sentence windows with 2-sentence overlap</a:t>
            </a:r>
          </a:p>
          <a:p>
            <a:pPr lvl="1">
              <a:spcBef>
                <a:spcPts val="600"/>
              </a:spcBef>
              <a:defRPr sz="1800">
                <a:solidFill>
                  <a:srgbClr val="505050"/>
                </a:solidFill>
              </a:defRPr>
            </a:pPr>
            <a:r>
              <a:rPr dirty="0"/>
              <a:t>Each chunk scored independently</a:t>
            </a:r>
            <a:r>
              <a:rPr lang="en-US" dirty="0"/>
              <a:t> -&gt; b</a:t>
            </a:r>
            <a:r>
              <a:rPr dirty="0"/>
              <a:t>est chunk used for answer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34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t>Results: Recall@5 reaches 100% - correct doc always in top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Extension 6: Answer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dirty="0"/>
              <a:t>Problem: Generated answers may not be supported by retrieved doc</a:t>
            </a:r>
          </a:p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dirty="0"/>
              <a:t>Solution: Verify answer against source, retry if needed</a:t>
            </a:r>
          </a:p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dirty="0"/>
              <a:t>Implementation:</a:t>
            </a:r>
          </a:p>
          <a:p>
            <a:pPr lvl="1">
              <a:spcBef>
                <a:spcPts val="600"/>
              </a:spcBef>
              <a:defRPr sz="1800">
                <a:solidFill>
                  <a:srgbClr val="505050"/>
                </a:solidFill>
              </a:defRPr>
            </a:pPr>
            <a:r>
              <a:rPr dirty="0"/>
              <a:t>Generate answer from top chunk</a:t>
            </a:r>
          </a:p>
          <a:p>
            <a:pPr lvl="1">
              <a:spcBef>
                <a:spcPts val="600"/>
              </a:spcBef>
              <a:defRPr sz="1800">
                <a:solidFill>
                  <a:srgbClr val="505050"/>
                </a:solidFill>
              </a:defRPr>
            </a:pPr>
            <a:r>
              <a:rPr dirty="0"/>
              <a:t>LLM verifies: Is this answer supported by the document?</a:t>
            </a:r>
          </a:p>
          <a:p>
            <a:pPr lvl="1">
              <a:spcBef>
                <a:spcPts val="600"/>
              </a:spcBef>
              <a:defRPr sz="1800">
                <a:solidFill>
                  <a:srgbClr val="505050"/>
                </a:solidFill>
              </a:defRPr>
            </a:pPr>
            <a:r>
              <a:rPr dirty="0"/>
              <a:t>If NOT_SUPPORTED: try next chunk (up to 3 attempts)</a:t>
            </a:r>
          </a:p>
          <a:p>
            <a:pPr lvl="1">
              <a:spcBef>
                <a:spcPts val="600"/>
              </a:spcBef>
              <a:defRPr sz="1800">
                <a:solidFill>
                  <a:srgbClr val="505050"/>
                </a:solidFill>
              </a:defRPr>
            </a:pPr>
            <a:r>
              <a:rPr dirty="0"/>
              <a:t>Return best verified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t>Results: Best overall - Citation F1 = 0.63, Answer = 3.88/5, Combined = 0.71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19728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lang="en-US" dirty="0"/>
              <a:t>Final </a:t>
            </a:r>
            <a:r>
              <a:rPr dirty="0"/>
              <a:t>Architecture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11277295" cy="47765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46464"/>
                </a:solidFill>
              </a:defRPr>
            </a:pPr>
            <a:r>
              <a:t>Extension 6 pipeline: Hybrid retrieval → Reranking → Generation → Verification with retry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Results: Train Set (24 questions)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R@1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R@5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Cite F1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Answer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Combined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Simple (BM25)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62.5%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0.241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Strong (LLM)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Ext 1 (RAG)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62.5%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0.241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3.12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Ext 2 (Rerank)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79.2%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3.75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Ext 3 (LLM Cite)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79.2%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0.576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3.83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Ext 4 (Hybrid)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83.3%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0.528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3.79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Ext 5 (Chunk)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75.0%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0.616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3.67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Ext 6 (Verify)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75.0%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0.632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3.88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0.71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dirty="0"/>
              <a:t>Retrieval: 54% → 79% Recall@1 (+46% from reranking)</a:t>
            </a:r>
          </a:p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dirty="0"/>
              <a:t>Citation: 0.24 → 0.63 F1 (+163% from LLM extraction)</a:t>
            </a:r>
          </a:p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dirty="0"/>
              <a:t>Answer Quality: 2.58 → 3.88 (+50% from grounding)</a:t>
            </a:r>
          </a:p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dirty="0"/>
              <a:t>Combined Score: 0.30 → 0.71 (+137%)</a:t>
            </a:r>
          </a:p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dirty="0"/>
              <a:t>Grounding Analysis: Extension 6 achieves 100% answer grounding</a:t>
            </a:r>
          </a:p>
          <a:p>
            <a:pPr lvl="1">
              <a:spcBef>
                <a:spcPts val="600"/>
              </a:spcBef>
              <a:defRPr sz="1800">
                <a:solidFill>
                  <a:srgbClr val="505050"/>
                </a:solidFill>
              </a:defRPr>
            </a:pPr>
            <a:r>
              <a:rPr dirty="0"/>
              <a:t>Every answer verified against source document</a:t>
            </a:r>
          </a:p>
          <a:p>
            <a:pPr lvl="1">
              <a:spcBef>
                <a:spcPts val="600"/>
              </a:spcBef>
              <a:defRPr sz="1800">
                <a:solidFill>
                  <a:srgbClr val="505050"/>
                </a:solidFill>
              </a:defRPr>
            </a:pPr>
            <a:r>
              <a:rPr dirty="0"/>
              <a:t>Retry mechanism catches initially unsupported claims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rPr dirty="0"/>
              <a:t>1. Retrieval Failures (6/24 questions)</a:t>
            </a:r>
          </a:p>
          <a:p>
            <a:pPr lvl="1">
              <a:spcBef>
                <a:spcPts val="600"/>
              </a:spcBef>
              <a:defRPr sz="1800">
                <a:solidFill>
                  <a:srgbClr val="505050"/>
                </a:solidFill>
              </a:defRPr>
            </a:pPr>
            <a:r>
              <a:rPr dirty="0"/>
              <a:t>Similar documents confuse the retriever</a:t>
            </a:r>
          </a:p>
          <a:p>
            <a:pPr lvl="1">
              <a:spcBef>
                <a:spcPts val="600"/>
              </a:spcBef>
              <a:defRPr sz="1800">
                <a:solidFill>
                  <a:srgbClr val="505050"/>
                </a:solidFill>
              </a:defRPr>
            </a:pPr>
            <a:r>
              <a:rPr dirty="0"/>
              <a:t>Example: Multiple Russia-Ukraine articles from same time period</a:t>
            </a:r>
            <a:endParaRPr lang="en-US" dirty="0"/>
          </a:p>
          <a:p>
            <a:pPr>
              <a:defRPr sz="2200">
                <a:solidFill>
                  <a:srgbClr val="000000"/>
                </a:solidFill>
              </a:defRPr>
            </a:pPr>
            <a:endParaRPr lang="en-US" sz="800" dirty="0"/>
          </a:p>
          <a:p>
            <a:pPr>
              <a:defRPr sz="2200">
                <a:solidFill>
                  <a:srgbClr val="000000"/>
                </a:solidFill>
              </a:defRPr>
            </a:pPr>
            <a:r>
              <a:rPr lang="en-US" dirty="0"/>
              <a:t>2. Citation Misalignment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lang="en-US" dirty="0"/>
              <a:t>    • LLM cites semantically related but not gold sentences</a:t>
            </a:r>
          </a:p>
          <a:p>
            <a:pPr>
              <a:defRPr sz="800"/>
            </a:pPr>
            <a:endParaRPr lang="en-US" dirty="0"/>
          </a:p>
          <a:p>
            <a:pPr>
              <a:defRPr sz="2200">
                <a:solidFill>
                  <a:srgbClr val="000000"/>
                </a:solidFill>
              </a:defRPr>
            </a:pPr>
            <a:r>
              <a:rPr lang="en-US" dirty="0"/>
              <a:t>3. Unanswerable Questions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lang="en-US" dirty="0"/>
              <a:t>    • System sometimes attempts answer when should refuse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lang="en-US" dirty="0"/>
              <a:t>    • Verification helps but doesn't fully solve this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t>What we built:</a:t>
            </a:r>
          </a:p>
          <a:p>
            <a:pPr lvl="1">
              <a:spcBef>
                <a:spcPts val="600"/>
              </a:spcBef>
              <a:defRPr sz="1800">
                <a:solidFill>
                  <a:srgbClr val="505050"/>
                </a:solidFill>
              </a:defRPr>
            </a:pPr>
            <a:r>
              <a:t>End-to-end document-grounded QA with sentence-level citations</a:t>
            </a:r>
          </a:p>
          <a:p>
            <a:pPr lvl="1">
              <a:spcBef>
                <a:spcPts val="600"/>
              </a:spcBef>
              <a:defRPr sz="1800">
                <a:solidFill>
                  <a:srgbClr val="505050"/>
                </a:solidFill>
              </a:defRPr>
            </a:pPr>
            <a:r>
              <a:t>Six extensions progressively improving each pipeline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Results (train set):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    • Recall@1: 54% → 79%   |   Citation F1: 0.24 → 0.63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    • Combined Score: 0.30 → 0.71</a:t>
            </a:r>
          </a:p>
          <a:p>
            <a:pPr>
              <a:defRPr sz="800"/>
            </a:pPr>
            <a:endParaRPr/>
          </a:p>
          <a:p>
            <a:pPr>
              <a:defRPr sz="2200">
                <a:solidFill>
                  <a:srgbClr val="000000"/>
                </a:solidFill>
              </a:defRPr>
            </a:pPr>
            <a:r>
              <a:t>What we learned: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    • Neural methods outperform lexical but are less interpretable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    • "Hallucination-free RAG" is harder than it looks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    • Each pipeline stage has failure modes that cascade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github.com/asherellis/cis5300_project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1193</Words>
  <Application>Microsoft Macintosh PowerPoint</Application>
  <PresentationFormat>Widescreen</PresentationFormat>
  <Paragraphs>197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Ellis, Asher Yitzchak</cp:lastModifiedBy>
  <cp:revision>74</cp:revision>
  <dcterms:created xsi:type="dcterms:W3CDTF">2013-01-27T09:14:16Z</dcterms:created>
  <dcterms:modified xsi:type="dcterms:W3CDTF">2025-12-16T19:50:47Z</dcterms:modified>
  <cp:category/>
</cp:coreProperties>
</file>